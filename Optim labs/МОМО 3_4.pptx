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5fe801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915fe801f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15fe801f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915fe801f0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15fe801f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15fe801f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15fe801f0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915fe801f0_0_5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15fe801f0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915fe801f0_3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5fe801f0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15fe801f0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15fe801f0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15fe801f0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15fe801f0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15fe801f0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15fe801f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15fe801f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15fe801f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15fe801f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15fe801f0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15fe801f0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15fe801f0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15fe801f0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15fe801f0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15fe801f0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15fe801f0_5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15fe801f0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15fe801f0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915fe801f0_0_6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18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1371600" y="2442525"/>
            <a:ext cx="6400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" sz="4400">
                <a:solidFill>
                  <a:schemeClr val="lt1"/>
                </a:solidFill>
              </a:rPr>
              <a:t>Лабораторные работы 3-4</a:t>
            </a:r>
            <a:endParaRPr sz="3400">
              <a:solidFill>
                <a:schemeClr val="lt1"/>
              </a:solidFill>
            </a:endParaRPr>
          </a:p>
        </p:txBody>
      </p:sp>
      <p:sp>
        <p:nvSpPr>
          <p:cNvPr id="73" name="Google Shape;73;p17"/>
          <p:cNvSpPr txBox="1"/>
          <p:nvPr/>
        </p:nvSpPr>
        <p:spPr>
          <a:xfrm>
            <a:off x="1331100" y="3520750"/>
            <a:ext cx="6481800" cy="13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lt1"/>
                </a:solidFill>
              </a:rPr>
              <a:t>Команда 14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Бухтояров Вячеслав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Анненков Илья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Ломакина Александра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Абабкова Виктория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507125" y="1131643"/>
            <a:ext cx="71700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/>
              <a:t>Задача: Бинарная классификация, предсказание неплатежеспособности клиента Home Credit Group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/>
              <a:t>307 511 записей, 12 признаков и 1 целевая переменная</a:t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"/>
              <a:t>Данные - Home Credit Group</a:t>
            </a:r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507125" y="2312700"/>
            <a:ext cx="2837700" cy="69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Категориальные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"NAME_EDUCATION_TYPE"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"NAME_HOUSING_TYPE"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1" name="Google Shape;81;p18"/>
          <p:cNvSpPr txBox="1"/>
          <p:nvPr/>
        </p:nvSpPr>
        <p:spPr>
          <a:xfrm>
            <a:off x="507125" y="4344600"/>
            <a:ext cx="758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Источник: https://www.kaggle.com/competitions/home-credit-default-risk/data</a:t>
            </a:r>
            <a:endParaRPr sz="1000"/>
          </a:p>
        </p:txBody>
      </p:sp>
      <p:sp>
        <p:nvSpPr>
          <p:cNvPr id="82" name="Google Shape;82;p18"/>
          <p:cNvSpPr/>
          <p:nvPr/>
        </p:nvSpPr>
        <p:spPr>
          <a:xfrm>
            <a:off x="507125" y="3009300"/>
            <a:ext cx="2837700" cy="91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Дискретные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“FLAG_OWN_CAR”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“FLAG_OWN_REALTY”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"CNT_CHILDREN"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"TARGET"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3" name="Google Shape;83;p18"/>
          <p:cNvSpPr/>
          <p:nvPr/>
        </p:nvSpPr>
        <p:spPr>
          <a:xfrm>
            <a:off x="3365375" y="2312700"/>
            <a:ext cx="1687500" cy="161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Непрерывные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"AMT_INCOME_TOTAL"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"AMT_CREDIT"    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"AMT_ANNUITY"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"AMT_GOODS_PRICE"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"LIVINGAREA_AVG"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"DAYS_EMPLOYED"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900">
                <a:solidFill>
                  <a:schemeClr val="dk1"/>
                </a:solidFill>
              </a:rPr>
              <a:t>“OWN_CAR_AGE”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103296"/>
            <a:ext cx="4974900" cy="45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1200"/>
              </a:spcAft>
              <a:buNone/>
            </a:pPr>
            <a:r>
              <a:rPr lang="ru"/>
              <a:t>Логистическая регрессия (сырые данные)</a:t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50" y="1472135"/>
            <a:ext cx="4305976" cy="178368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800" y="1472127"/>
            <a:ext cx="2874350" cy="325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Одномерный анализ и его результаты</a:t>
            </a:r>
            <a:endParaRPr/>
          </a:p>
        </p:txBody>
      </p:sp>
      <p:pic>
        <p:nvPicPr>
          <p:cNvPr id="96" name="Google Shape;96;p20" title="Empty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925" y="1105552"/>
            <a:ext cx="2199251" cy="14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 title="LIVING_ARE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0419" y="2375572"/>
            <a:ext cx="3213234" cy="1204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 title="OWN_CA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3250" y="3493850"/>
            <a:ext cx="3377400" cy="12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 title="OWN_CAR_A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883" y="3577230"/>
            <a:ext cx="3079239" cy="1154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 title="LIVING_ARE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273" y="2310719"/>
            <a:ext cx="3377403" cy="12665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/>
          <p:nvPr/>
        </p:nvSpPr>
        <p:spPr>
          <a:xfrm>
            <a:off x="4104975" y="3157150"/>
            <a:ext cx="874500" cy="35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1139993" y="1842902"/>
            <a:ext cx="13608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75" lIns="79075" spcFirstLastPara="1" rIns="79075" wrap="square" tIns="7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6">
              <a:solidFill>
                <a:schemeClr val="dk2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1001659" y="2028969"/>
            <a:ext cx="2537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75" lIns="79075" spcFirstLastPara="1" rIns="79075" wrap="square" tIns="7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6">
                <a:solidFill>
                  <a:schemeClr val="dk2"/>
                </a:solidFill>
              </a:rPr>
              <a:t>Исходное распределение</a:t>
            </a:r>
            <a:endParaRPr sz="1556">
              <a:solidFill>
                <a:schemeClr val="dk2"/>
              </a:solidFill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5648178" y="1842893"/>
            <a:ext cx="2537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75" lIns="79075" spcFirstLastPara="1" rIns="79075" wrap="square" tIns="7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56">
                <a:solidFill>
                  <a:schemeClr val="dk2"/>
                </a:solidFill>
              </a:rPr>
              <a:t>Сэмплирование </a:t>
            </a:r>
            <a:r>
              <a:rPr lang="ru" sz="1456">
                <a:solidFill>
                  <a:schemeClr val="dk2"/>
                </a:solidFill>
              </a:rPr>
              <a:t>пропусков из того же распределения</a:t>
            </a:r>
            <a:endParaRPr sz="1456">
              <a:solidFill>
                <a:schemeClr val="dk2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5351950" y="1236200"/>
            <a:ext cx="22707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solidFill>
                  <a:schemeClr val="dk1"/>
                </a:solidFill>
              </a:rPr>
              <a:t>Обработка пропусков</a:t>
            </a:r>
            <a:endParaRPr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Одномерный анализ и его результаты</a:t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3988225" y="2762431"/>
            <a:ext cx="874500" cy="35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1139993" y="998595"/>
            <a:ext cx="13608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75" lIns="79075" spcFirstLastPara="1" rIns="79075" wrap="square" tIns="7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6">
              <a:solidFill>
                <a:schemeClr val="dk2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706948" y="1184663"/>
            <a:ext cx="2537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75" lIns="79075" spcFirstLastPara="1" rIns="79075" wrap="square" tIns="7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6">
                <a:solidFill>
                  <a:schemeClr val="dk2"/>
                </a:solidFill>
              </a:rPr>
              <a:t>Исходное распределение</a:t>
            </a:r>
            <a:endParaRPr sz="1556"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5648165" y="1067511"/>
            <a:ext cx="2537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75" lIns="79075" spcFirstLastPara="1" rIns="79075" wrap="square" tIns="7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6">
                <a:solidFill>
                  <a:schemeClr val="dk2"/>
                </a:solidFill>
              </a:rPr>
              <a:t>Распределение после обработки</a:t>
            </a:r>
            <a:endParaRPr sz="1556">
              <a:solidFill>
                <a:schemeClr val="dk2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3406875" y="1005225"/>
            <a:ext cx="22707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solidFill>
                  <a:schemeClr val="dk1"/>
                </a:solidFill>
              </a:rPr>
              <a:t>Обработка выбросов</a:t>
            </a:r>
            <a:endParaRPr b="1" i="1"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10817" l="3319" r="5230" t="0"/>
          <a:stretch/>
        </p:blipFill>
        <p:spPr>
          <a:xfrm>
            <a:off x="382325" y="1610025"/>
            <a:ext cx="3150999" cy="115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 rotWithShape="1">
          <a:blip r:embed="rId4">
            <a:alphaModFix/>
          </a:blip>
          <a:srcRect b="10072" l="4509" r="4943" t="4200"/>
          <a:stretch/>
        </p:blipFill>
        <p:spPr>
          <a:xfrm>
            <a:off x="5217149" y="1610025"/>
            <a:ext cx="3251481" cy="1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 rotWithShape="1">
          <a:blip r:embed="rId5">
            <a:alphaModFix/>
          </a:blip>
          <a:srcRect b="10432" l="2270" r="5042" t="4822"/>
          <a:stretch/>
        </p:blipFill>
        <p:spPr>
          <a:xfrm>
            <a:off x="5317625" y="2708838"/>
            <a:ext cx="3151001" cy="1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 title="AMT_INCOME_TOTAL.png"/>
          <p:cNvPicPr preferRelativeResize="0"/>
          <p:nvPr/>
        </p:nvPicPr>
        <p:blipFill rotWithShape="1">
          <a:blip r:embed="rId6">
            <a:alphaModFix/>
          </a:blip>
          <a:srcRect b="9395" l="0" r="5589" t="0"/>
          <a:stretch/>
        </p:blipFill>
        <p:spPr>
          <a:xfrm>
            <a:off x="457200" y="2762425"/>
            <a:ext cx="3052956" cy="10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7">
            <a:alphaModFix/>
          </a:blip>
          <a:srcRect b="12247" l="4223" r="6673" t="5502"/>
          <a:stretch/>
        </p:blipFill>
        <p:spPr>
          <a:xfrm>
            <a:off x="5440200" y="3861225"/>
            <a:ext cx="3120828" cy="11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 rotWithShape="1">
          <a:blip r:embed="rId8">
            <a:alphaModFix/>
          </a:blip>
          <a:srcRect b="11371" l="3837" r="4570" t="0"/>
          <a:stretch/>
        </p:blipFill>
        <p:spPr>
          <a:xfrm>
            <a:off x="332088" y="3835725"/>
            <a:ext cx="3251475" cy="12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3698888" y="1907851"/>
            <a:ext cx="13527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6">
                <a:solidFill>
                  <a:schemeClr val="dk2"/>
                </a:solidFill>
              </a:rPr>
              <a:t>Убрали заглушку</a:t>
            </a:r>
            <a:endParaRPr sz="1556">
              <a:solidFill>
                <a:schemeClr val="dk2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3621050" y="3224025"/>
            <a:ext cx="14304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6">
                <a:solidFill>
                  <a:schemeClr val="dk2"/>
                </a:solidFill>
              </a:rPr>
              <a:t>применили IQR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063875" y="1419825"/>
            <a:ext cx="2138400" cy="396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679">
                <a:solidFill>
                  <a:schemeClr val="dk1"/>
                </a:solidFill>
              </a:rPr>
              <a:t>Логарифмирование</a:t>
            </a:r>
            <a:endParaRPr sz="1679">
              <a:solidFill>
                <a:schemeClr val="dk1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12440" l="5317" r="6785" t="5551"/>
          <a:stretch/>
        </p:blipFill>
        <p:spPr>
          <a:xfrm>
            <a:off x="5202325" y="136880"/>
            <a:ext cx="3653676" cy="9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 rotWithShape="1">
          <a:blip r:embed="rId4">
            <a:alphaModFix/>
          </a:blip>
          <a:srcRect b="12631" l="3817" r="6785" t="3882"/>
          <a:stretch/>
        </p:blipFill>
        <p:spPr>
          <a:xfrm>
            <a:off x="5202325" y="1066075"/>
            <a:ext cx="3653675" cy="10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 rotWithShape="1">
          <a:blip r:embed="rId5">
            <a:alphaModFix/>
          </a:blip>
          <a:srcRect b="14911" l="3522" r="6378" t="4090"/>
          <a:stretch/>
        </p:blipFill>
        <p:spPr>
          <a:xfrm>
            <a:off x="5202325" y="2073850"/>
            <a:ext cx="3638576" cy="10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 rotWithShape="1">
          <a:blip r:embed="rId6">
            <a:alphaModFix/>
          </a:blip>
          <a:srcRect b="13243" l="4222" r="6880" t="5256"/>
          <a:stretch/>
        </p:blipFill>
        <p:spPr>
          <a:xfrm>
            <a:off x="5202325" y="3081613"/>
            <a:ext cx="3539176" cy="10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 rotWithShape="1">
          <a:blip r:embed="rId7">
            <a:alphaModFix/>
          </a:blip>
          <a:srcRect b="11289" l="3924" r="7075" t="4712"/>
          <a:stretch/>
        </p:blipFill>
        <p:spPr>
          <a:xfrm>
            <a:off x="5202325" y="4089375"/>
            <a:ext cx="3539174" cy="10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 rotWithShape="1">
          <a:blip r:embed="rId8">
            <a:alphaModFix/>
          </a:blip>
          <a:srcRect b="12960" l="4606" r="5425" t="3371"/>
          <a:stretch/>
        </p:blipFill>
        <p:spPr>
          <a:xfrm>
            <a:off x="78050" y="1095463"/>
            <a:ext cx="2985826" cy="9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 rotWithShape="1">
          <a:blip r:embed="rId9">
            <a:alphaModFix/>
          </a:blip>
          <a:srcRect b="12699" l="4223" r="5523" t="2862"/>
          <a:stretch/>
        </p:blipFill>
        <p:spPr>
          <a:xfrm>
            <a:off x="97101" y="2054050"/>
            <a:ext cx="2985824" cy="9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10">
            <a:alphaModFix/>
          </a:blip>
          <a:srcRect b="10921" l="4507" r="5710" t="0"/>
          <a:stretch/>
        </p:blipFill>
        <p:spPr>
          <a:xfrm>
            <a:off x="78050" y="3052238"/>
            <a:ext cx="2985825" cy="10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11">
            <a:alphaModFix/>
          </a:blip>
          <a:srcRect b="12994" l="3364" r="5469" t="3330"/>
          <a:stretch/>
        </p:blipFill>
        <p:spPr>
          <a:xfrm>
            <a:off x="60188" y="4089400"/>
            <a:ext cx="3021551" cy="95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/>
          <p:nvPr/>
        </p:nvSpPr>
        <p:spPr>
          <a:xfrm>
            <a:off x="3597650" y="2571756"/>
            <a:ext cx="874500" cy="35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12">
            <a:alphaModFix/>
          </a:blip>
          <a:srcRect b="10072" l="4509" r="4943" t="4200"/>
          <a:stretch/>
        </p:blipFill>
        <p:spPr>
          <a:xfrm>
            <a:off x="97100" y="29200"/>
            <a:ext cx="3008476" cy="10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306425"/>
            <a:ext cx="5901600" cy="527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после преобразования</a:t>
            </a:r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900" y="1119875"/>
            <a:ext cx="4536875" cy="2009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23"/>
          <p:cNvSpPr txBox="1"/>
          <p:nvPr/>
        </p:nvSpPr>
        <p:spPr>
          <a:xfrm>
            <a:off x="571900" y="3304566"/>
            <a:ext cx="6903300" cy="61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Метрики модели обученной на обработанных данных показали рост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Roc-auc 0.63, f1 - 0.21, precision - 0.14, recall - 0.39, acc - 0.74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/>
              <a:t>Первоначальный многомерный анализ</a:t>
            </a:r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70425"/>
            <a:ext cx="3981499" cy="35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425" y="1730325"/>
            <a:ext cx="3448775" cy="22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/>
              <a:t>Продвинутые методы многомерного анализа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98350"/>
            <a:ext cx="3769275" cy="243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725" y="1558526"/>
            <a:ext cx="3769274" cy="2185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ru" sz="2000"/>
              <a:t>Продвинутые методы многомерного анализа</a:t>
            </a:r>
            <a:endParaRPr/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100" y="1305377"/>
            <a:ext cx="3806901" cy="322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0800" y="1424149"/>
            <a:ext cx="3714399" cy="32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ru" sz="2000"/>
              <a:t>Продвинутые методы многомерного анализа</a:t>
            </a:r>
            <a:endParaRPr/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75" y="1505288"/>
            <a:ext cx="3298825" cy="213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7000" y="1380975"/>
            <a:ext cx="3648250" cy="309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/>
              <a:t>Дополнительные методы создания признаков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200" y="1503225"/>
            <a:ext cx="4527650" cy="28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575" y="1768700"/>
            <a:ext cx="2628600" cy="23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ru" sz="2000"/>
              <a:t>Дополнительные методы создания признаков</a:t>
            </a:r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375" y="1015925"/>
            <a:ext cx="5679250" cy="377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Байесовская сеть</a:t>
            </a:r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300" y="987650"/>
            <a:ext cx="4694376" cy="381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050" y="2607350"/>
            <a:ext cx="3388199" cy="150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5130050" y="1870725"/>
            <a:ext cx="3388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Сэмплировали</a:t>
            </a:r>
            <a:r>
              <a:rPr lang="ru" sz="1800">
                <a:solidFill>
                  <a:schemeClr val="dk2"/>
                </a:solidFill>
              </a:rPr>
              <a:t> недостающий класс и обучили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457200" y="1801813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" sz="4400"/>
              <a:t>Спасибо</a:t>
            </a:r>
            <a:br>
              <a:rPr lang="ru" sz="4400"/>
            </a:br>
            <a:r>
              <a:rPr lang="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